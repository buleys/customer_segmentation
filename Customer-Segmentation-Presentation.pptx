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embeddedFontLst>
    <p:embeddedFont>
      <p:font typeface="Alice"/>
      <p:regular r:id="rId201314"/>
    </p:embeddedFont>
    <p:embeddedFont>
      <p:font typeface="Lora"/>
      <p:regular r:id="rId201315"/>
    </p:embeddedFont>
    <p:embeddedFont>
      <p:font typeface="Lor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image" Target="../media/image-11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Customer Segmentation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Using unsupervised ML to identify distinct customer groups — enabling targeted marketing, personalized promotions, and improved retention.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92249"/>
            <a:ext cx="1290191" cy="215354"/>
          </a:xfrm>
          <a:prstGeom prst="roundRect">
            <a:avLst>
              <a:gd name="adj" fmla="val 7900"/>
            </a:avLst>
          </a:prstGeom>
          <a:solidFill>
            <a:srgbClr val="D7F4E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34739"/>
            <a:ext cx="157728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6430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One-Size-Fits-All Marketing Doesn't Work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79364"/>
            <a:ext cx="5177582" cy="29123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24339" y="1928068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4339" y="2291283"/>
            <a:ext cx="262823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Same strategies applied to all customers, ignoring behavioral differences.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24339" y="3113484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Solution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24339" y="3476699"/>
            <a:ext cx="262823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Unsupervised ML to segment customers and drive data-informed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391492"/>
            <a:ext cx="751359" cy="164902"/>
          </a:xfrm>
          <a:prstGeom prst="roundRect">
            <a:avLst>
              <a:gd name="adj" fmla="val 7899"/>
            </a:avLst>
          </a:prstGeom>
          <a:noFill/>
          <a:ln w="4763">
            <a:solidFill>
              <a:srgbClr val="1B5F3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1231" y="424011"/>
            <a:ext cx="1078334" cy="99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TOOLS &amp; DATA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96119" y="589583"/>
            <a:ext cx="4722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Dataset at a Glance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496119" y="1107653"/>
            <a:ext cx="4722763" cy="3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3,900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96119" y="1582341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Rows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96119" y="1972270"/>
            <a:ext cx="4722763" cy="3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18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96119" y="2446958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Columns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96119" y="2836887"/>
            <a:ext cx="4722763" cy="3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37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96119" y="3311575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Missing Values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96119" y="3530947"/>
            <a:ext cx="47227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Review Rating only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96119" y="3904655"/>
            <a:ext cx="4722763" cy="3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6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496119" y="4379342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Tools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6119" y="4598715"/>
            <a:ext cx="47227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Python, SQL, Power BI, GitHub, Gammas, Comet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78631"/>
            <a:ext cx="1247626" cy="212006"/>
          </a:xfrm>
          <a:prstGeom prst="roundRect">
            <a:avLst>
              <a:gd name="adj" fmla="val 7899"/>
            </a:avLst>
          </a:prstGeom>
          <a:solidFill>
            <a:srgbClr val="D7F4E4"/>
          </a:solidFill>
          <a:ln/>
        </p:spPr>
      </p:sp>
      <p:sp>
        <p:nvSpPr>
          <p:cNvPr id="3" name="Text 1"/>
          <p:cNvSpPr/>
          <p:nvPr/>
        </p:nvSpPr>
        <p:spPr>
          <a:xfrm>
            <a:off x="579834" y="520452"/>
            <a:ext cx="1537395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PREPARATION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45554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 Cleaning Steps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407" y="1387673"/>
            <a:ext cx="6339185" cy="29012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56361" y="3485339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Standardize Names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56456" y="3599972"/>
            <a:ext cx="1190143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Impute Rating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64702" y="3599972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Explore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40341" y="3599972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Load Data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6119" y="4443413"/>
            <a:ext cx="86089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37 missing values in Review Rating imputed using category-specific median. Redundant promo_code_used column dropped.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43744"/>
            <a:ext cx="1219051" cy="215354"/>
          </a:xfrm>
          <a:prstGeom prst="roundRect">
            <a:avLst>
              <a:gd name="adj" fmla="val 7900"/>
            </a:avLst>
          </a:prstGeom>
          <a:solidFill>
            <a:srgbClr val="D7F4E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86234"/>
            <a:ext cx="150614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EDA — UNIVARIATE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1580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Data Distributions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30859"/>
            <a:ext cx="3902943" cy="2809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61314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Highlights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1976363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Gender: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2:1 male-to-female ratio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Age: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Uniform across 4 groups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Avg spend: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~$60 per purchase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Subscribers: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27% — growth opportunity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43744"/>
            <a:ext cx="2074218" cy="215354"/>
          </a:xfrm>
          <a:prstGeom prst="roundRect">
            <a:avLst>
              <a:gd name="adj" fmla="val 7900"/>
            </a:avLst>
          </a:prstGeom>
          <a:solidFill>
            <a:srgbClr val="D7F4E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86234"/>
            <a:ext cx="236130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EDA — BIVARIATE &amp; MULTIVARIATE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1580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Spending Patterns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30859"/>
            <a:ext cx="3902943" cy="2809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61314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1976363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Winter &amp; Fall: higher spend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Gender: minimal spending difference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Outerwear: lowest median spend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Subscribers &amp; non-subscribers spend equally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220167"/>
            <a:ext cx="955849" cy="215354"/>
          </a:xfrm>
          <a:prstGeom prst="roundRect">
            <a:avLst>
              <a:gd name="adj" fmla="val 7900"/>
            </a:avLst>
          </a:prstGeom>
          <a:solidFill>
            <a:srgbClr val="D7F4E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262658"/>
            <a:ext cx="124293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SQL INSIGHTS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49222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Business Findings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2147813"/>
            <a:ext cx="4004965" cy="816843"/>
          </a:xfrm>
          <a:prstGeom prst="roundRect">
            <a:avLst>
              <a:gd name="adj" fmla="val 2603"/>
            </a:avLst>
          </a:prstGeom>
          <a:solidFill>
            <a:srgbClr val="F0EDE6"/>
          </a:solidFill>
          <a:ln/>
        </p:spPr>
      </p:sp>
      <p:sp>
        <p:nvSpPr>
          <p:cNvPr id="6" name="Text 4"/>
          <p:cNvSpPr/>
          <p:nvPr/>
        </p:nvSpPr>
        <p:spPr>
          <a:xfrm>
            <a:off x="637877" y="2289572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Revenue by Gender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7877" y="2596083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Male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$157K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vs Female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$75K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2147813"/>
            <a:ext cx="4005039" cy="816843"/>
          </a:xfrm>
          <a:prstGeom prst="roundRect">
            <a:avLst>
              <a:gd name="adj" fmla="val 2603"/>
            </a:avLst>
          </a:prstGeom>
          <a:solidFill>
            <a:srgbClr val="F0EDE6"/>
          </a:solidFill>
          <a:ln/>
        </p:spPr>
      </p:sp>
      <p:sp>
        <p:nvSpPr>
          <p:cNvPr id="9" name="Text 7"/>
          <p:cNvSpPr/>
          <p:nvPr/>
        </p:nvSpPr>
        <p:spPr>
          <a:xfrm>
            <a:off x="4784601" y="2289572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Top Rated Products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84601" y="2596083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Gloves, Sandals, Boots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3106415"/>
            <a:ext cx="4004965" cy="816843"/>
          </a:xfrm>
          <a:prstGeom prst="roundRect">
            <a:avLst>
              <a:gd name="adj" fmla="val 2603"/>
            </a:avLst>
          </a:prstGeom>
          <a:solidFill>
            <a:srgbClr val="F0EDE6"/>
          </a:solidFill>
          <a:ln/>
        </p:spPr>
      </p:sp>
      <p:sp>
        <p:nvSpPr>
          <p:cNvPr id="12" name="Text 10"/>
          <p:cNvSpPr/>
          <p:nvPr/>
        </p:nvSpPr>
        <p:spPr>
          <a:xfrm>
            <a:off x="637877" y="3248174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Customer Segments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7877" y="3554685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Loyal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3,116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· Returning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701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· New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83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42842" y="3106415"/>
            <a:ext cx="4005039" cy="816843"/>
          </a:xfrm>
          <a:prstGeom prst="roundRect">
            <a:avLst>
              <a:gd name="adj" fmla="val 2603"/>
            </a:avLst>
          </a:prstGeom>
          <a:solidFill>
            <a:srgbClr val="F0EDE6"/>
          </a:solidFill>
          <a:ln/>
        </p:spPr>
      </p:sp>
      <p:sp>
        <p:nvSpPr>
          <p:cNvPr id="15" name="Text 13"/>
          <p:cNvSpPr/>
          <p:nvPr/>
        </p:nvSpPr>
        <p:spPr>
          <a:xfrm>
            <a:off x="4784601" y="3248174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Revenue by Age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84601" y="3554685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Young Adult leads at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$62K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85192"/>
            <a:ext cx="861938" cy="215354"/>
          </a:xfrm>
          <a:prstGeom prst="roundRect">
            <a:avLst>
              <a:gd name="adj" fmla="val 7900"/>
            </a:avLst>
          </a:prstGeom>
          <a:solidFill>
            <a:srgbClr val="D7F4E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627683"/>
            <a:ext cx="114902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DASHBOARD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5725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Power BI Dashboard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72307"/>
            <a:ext cx="5177582" cy="27265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24339" y="1868016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Interactive Filters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4339" y="2231231"/>
            <a:ext cx="2628230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Subscription Status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Gender, Category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Shipping Type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24339" y="3152552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Metrics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24339" y="3515767"/>
            <a:ext cx="2628230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3.9K customers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Avg spend: $59.76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Avg rating: 3.75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43744"/>
            <a:ext cx="791914" cy="215354"/>
          </a:xfrm>
          <a:prstGeom prst="roundRect">
            <a:avLst>
              <a:gd name="adj" fmla="val 7900"/>
            </a:avLst>
          </a:prstGeom>
          <a:solidFill>
            <a:srgbClr val="D7F4E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86234"/>
            <a:ext cx="107900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1580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Choosing the Right Model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30859"/>
            <a:ext cx="3902943" cy="2809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61314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Three Methods Evaluated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1976363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Agglomerative Clustering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Gaussian Mixture Models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K-Means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9701" y="289768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Winner: K-Means, k=3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749701" y="3260899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Lowest Davies-Bouldin Index, balanced scores, computational efficiency.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48556"/>
            <a:ext cx="656927" cy="215354"/>
          </a:xfrm>
          <a:prstGeom prst="roundRect">
            <a:avLst>
              <a:gd name="adj" fmla="val 7900"/>
            </a:avLst>
          </a:prstGeom>
          <a:solidFill>
            <a:srgbClr val="D7F4E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991046"/>
            <a:ext cx="94401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RESULTS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2061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Three Customer Segments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76202"/>
            <a:ext cx="2235250" cy="13814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3434804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Cluster 0 — High-Value Loyal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3741316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1,635 customers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· Highest spend &amp; loyalty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876202"/>
            <a:ext cx="2235250" cy="13814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72433" y="3434804"/>
            <a:ext cx="2599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Cluster 1 — Budget-Conscious Regular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72433" y="396277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1,693 customers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· Frequent, low spend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876202"/>
            <a:ext cx="2235250" cy="13814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8747" y="3434804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Cluster 2 — Occasional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048747" y="3741316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572 customers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· Annual buyers, high potential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0563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32136"/>
            <a:ext cx="1871365" cy="11565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065859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High-Value Loyal Customers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372371"/>
            <a:ext cx="2599134" cy="53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     Retain and reward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732136"/>
            <a:ext cx="1871365" cy="11565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3065859"/>
            <a:ext cx="2599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Budget-Conscious Regular         Customers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59382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Increase spending through upselling and cross-selling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732136"/>
            <a:ext cx="1871365" cy="11565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3065859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Occasional Customers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372371"/>
            <a:ext cx="2599134" cy="765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Reactivate with targeted marketing campaigns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16298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8718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K-Means Clustering model was used to produced meaningful customer segments.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248498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These segments can be used to improve: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2871267"/>
            <a:ext cx="472276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marketing campaigns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retention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product recommendations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promotional targeting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2026-08-06T19:41:46Z</dcterms:created>
  <dcterms:modified xsi:type="dcterms:W3CDTF">2026-08-06T19:41:46Z</dcterms:modified>
</cp:coreProperties>
</file>